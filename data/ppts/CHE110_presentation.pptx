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Welcome Vertos to the complete academic slide presentation for CHE110 (Environmental Studies). Today's session walks through theoretical foundations, implementation workflows, and high-frequency examination patterns.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This blueprint outlines the progressive cognitive taxonomy for CHE110. Make sure your notes align with the respective unit headings.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When teaching or studying Unit 1, highlight the invariant properties. In LPU examinations, students who draw state transitions get full 5/5 marks in Section B.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When teaching or studying Unit 2, highlight the invariant properties. In LPU examinations, students who draw state transitions get full 5/5 marks in Section B.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When teaching or studying Unit 3, highlight the invariant properties. In LPU examinations, students who draw state transitions get full 5/5 marks in Section B.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When teaching or studying Unit 4, highlight the invariant properties. In LPU examinations, students who draw state transitions get full 5/5 marks in Section B.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Walk through this algorithm step-by-step. Note that step 1 prevents edge-case runtime aborts.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Explain how auxiliary space impacts microservice memory limits and embedded system execution.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Guide students on disciplined exam time management. Most marks are lost in Part B due to time exhaustion, not lack of knowledge.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Present these questions to test class understanding. Ask students how they would break down the 10-mark question rubric.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Conclude the presentation. Direct students to the AcadAssist portal to take their practice mock test.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E11D48"/>
          </a:solidFill>
          <a:ln>
            <a:solidFill>
              <a:srgbClr val="E11D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731520"/>
            <a:ext cx="1036289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E11D48"/>
                </a:solidFill>
              </a:defRPr>
            </a:pPr>
            <a:r>
              <a:t>B. TECH. COMPUTER SCIENCE &amp; ENGINEERING • SEMESTER 2 • 2 CREDITS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1188720"/>
            <a:ext cx="10362895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600" b="1">
                <a:solidFill>
                  <a:srgbClr val="0F172A"/>
                </a:solidFill>
              </a:defRPr>
            </a:pPr>
            <a:r>
              <a:t>CHE110: Environmental Studies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2743200"/>
            <a:ext cx="1036289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700">
                <a:solidFill>
                  <a:srgbClr val="64748B"/>
                </a:solidFill>
              </a:defRPr>
            </a:pPr>
            <a:r>
              <a:t>Lovely Professional University • Academic Presentation &amp; Exam Revision Deck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914400" y="3566160"/>
            <a:ext cx="6217920" cy="246888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97280" y="3657600"/>
            <a:ext cx="585216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300">
                <a:solidFill>
                  <a:srgbClr val="1E293B"/>
                </a:solidFill>
              </a:defRPr>
            </a:pPr>
            <a:r>
              <a:t>•  Curated from official LPU Verto syllabus &amp; notes repository (notes.lpuverto.xyz)</a:t>
            </a:r>
          </a:p>
          <a:p>
            <a:pPr>
              <a:spcAft>
                <a:spcPts val="800"/>
              </a:spcAft>
              <a:defRPr sz="1300">
                <a:solidFill>
                  <a:srgbClr val="1E293B"/>
                </a:solidFill>
              </a:defRPr>
            </a:pPr>
            <a:r>
              <a:t>•  Mapped to Course Outcomes (CO1–CO6) and Bloom's Revised Taxonomy (Levels L1–L5)</a:t>
            </a:r>
          </a:p>
          <a:p>
            <a:pPr>
              <a:spcAft>
                <a:spcPts val="800"/>
              </a:spcAft>
              <a:defRPr sz="1300">
                <a:solidFill>
                  <a:srgbClr val="1E293B"/>
                </a:solidFill>
              </a:defRPr>
            </a:pPr>
            <a:r>
              <a:t>•  Includes High-Yield Exam Formulas, End-Term (ETE) &amp; Mid-Term (MTE) Question Breakdowns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406640" y="3566160"/>
            <a:ext cx="3840480" cy="2468880"/>
          </a:xfrm>
          <a:prstGeom prst="roundRect">
            <a:avLst/>
          </a:prstGeom>
          <a:solidFill>
            <a:srgbClr val="FEF2F2"/>
          </a:solidFill>
          <a:ln w="19050">
            <a:solidFill>
              <a:srgbClr val="E11D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589520" y="3749039"/>
            <a:ext cx="3474720" cy="2103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200" b="1">
                <a:solidFill>
                  <a:srgbClr val="E11D48"/>
                </a:solidFill>
              </a:defRPr>
            </a:pPr>
            <a:r>
              <a:t>🎯 LPU ACADEMIC GOAL</a:t>
            </a:r>
          </a:p>
          <a:p>
            <a:pPr>
              <a:spcAft>
                <a:spcPts val="800"/>
              </a:spcAft>
              <a:defRPr sz="1300">
                <a:solidFill>
                  <a:srgbClr val="1E293B"/>
                </a:solidFill>
              </a:defRPr>
            </a:pPr>
            <a:r>
              <a:t>Designed for students aiming for Grade O (10.0 CGPA) in CHE110.</a:t>
            </a:r>
          </a:p>
          <a:p>
            <a:pPr>
              <a:defRPr sz="1100">
                <a:solidFill>
                  <a:srgbClr val="64748B"/>
                </a:solidFill>
              </a:defRPr>
            </a:pPr>
            <a:r>
              <a:t>🔗 Notes: notes.lpuverto.xyz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6217920"/>
            <a:ext cx="1072865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4748B"/>
                </a:solidFill>
              </a:defRPr>
            </a:pPr>
            <a:r>
              <a:t>AcadAssist • LPU Academic Presentation • CHE110 • Powered by notes.lpuverto.xyz</a:t>
            </a:r>
          </a:p>
          <a:p>
            <a:pPr algn="r">
              <a:defRPr sz="900" b="1">
                <a:solidFill>
                  <a:srgbClr val="E11D48"/>
                </a:solidFill>
              </a:defRPr>
            </a:pPr>
            <a:r>
              <a:t>Slide 1 of 11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E11D48"/>
          </a:solidFill>
          <a:ln>
            <a:solidFill>
              <a:srgbClr val="E11D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72865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E11D48"/>
                </a:solidFill>
              </a:defRPr>
            </a:pPr>
            <a:r>
              <a:t>LPU COURSE OUTLINE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85800"/>
            <a:ext cx="1072865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0F172A"/>
                </a:solidFill>
              </a:defRPr>
            </a:pPr>
            <a:r>
              <a:t>Course Blueprint &amp; Syllabus Progression</a:t>
            </a:r>
          </a:p>
          <a:p>
            <a:pPr>
              <a:defRPr sz="1300">
                <a:solidFill>
                  <a:srgbClr val="64748B"/>
                </a:solidFill>
              </a:defRPr>
            </a:pPr>
            <a:r>
              <a:t>Modular Breakdown across 6 Academic Units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91640"/>
            <a:ext cx="5852160" cy="429768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828800"/>
            <a:ext cx="548640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Unit 1: Introduction and sustainable development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Unit 2: Natural resources and ecosystem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Unit 3: Biodiversity and conservation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Unit 4: Environmental pollution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Unit 5: Disaster management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Unit 6: Human communities and environment</a:t>
            </a:r>
          </a:p>
          <a:p>
            <a:pPr>
              <a:spcBef>
                <a:spcPts val="800"/>
              </a:spcBef>
              <a:defRPr sz="1100" b="1">
                <a:solidFill>
                  <a:srgbClr val="E11D48"/>
                </a:solidFill>
              </a:defRPr>
            </a:pPr>
            <a:r>
              <a:t>🎯 Exam Tip: Units 1-3 form 100% of MTE syllabus; Units 1-6 form 100% of ETE with heavy emphasis on Units 4-6.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766560" y="1691640"/>
            <a:ext cx="4693615" cy="4297680"/>
          </a:xfrm>
          <a:prstGeom prst="round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903720" y="1828800"/>
            <a:ext cx="438912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000" b="1">
                <a:solidFill>
                  <a:srgbClr val="F59E0B"/>
                </a:solidFill>
              </a:defRPr>
            </a:pPr>
            <a:r>
              <a:t>DIAGRAM / SYSTEM SCHEMATIC</a:t>
            </a:r>
          </a:p>
          <a:p>
            <a:pPr>
              <a:defRPr sz="950">
                <a:solidFill>
                  <a:srgbClr val="E2E8F0"/>
                </a:solidFill>
                <a:latin typeface="Courier New"/>
              </a:defRPr>
            </a:pPr>
            <a:r>
              <a:t>+-------------------------------------------------------------------------+</a:t>
            </a:r>
            <a:br/>
            <a:r>
              <a:t>| [Unit 1 &amp; 2: Foundations] ---&gt; [Unit 3 &amp; 4: Application] ---&gt; [Unit 5 &amp; 6: Mastery] |</a:t>
            </a:r>
            <a:br/>
            <a:r>
              <a:t>+-------------------------------------------------------------------------+</a:t>
            </a:r>
            <a:br/>
            <a:r>
              <a:t>  Continuous Assessment (CA1, CA2)   Mid-Term Exam (MTE)        End-Term Exam (ETE)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6217920"/>
            <a:ext cx="1072865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4748B"/>
                </a:solidFill>
              </a:defRPr>
            </a:pPr>
            <a:r>
              <a:t>AcadAssist • LPU Academic Presentation • CHE110 • Powered by notes.lpuverto.xyz</a:t>
            </a:r>
          </a:p>
          <a:p>
            <a:pPr algn="r">
              <a:defRPr sz="900" b="1">
                <a:solidFill>
                  <a:srgbClr val="E11D48"/>
                </a:solidFill>
              </a:defRPr>
            </a:pPr>
            <a:r>
              <a:t>Slide 2 of 11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E11D48"/>
          </a:solidFill>
          <a:ln>
            <a:solidFill>
              <a:srgbClr val="E11D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72865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E11D48"/>
                </a:solidFill>
              </a:defRPr>
            </a:pPr>
            <a:r>
              <a:t>UNIT 1 FOCUS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85800"/>
            <a:ext cx="1072865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0F172A"/>
                </a:solidFill>
              </a:defRPr>
            </a:pPr>
            <a:r>
              <a:t>Unit 1: Introduction and sustainable development</a:t>
            </a:r>
          </a:p>
          <a:p>
            <a:pPr>
              <a:defRPr sz="1300">
                <a:solidFill>
                  <a:srgbClr val="64748B"/>
                </a:solidFill>
              </a:defRPr>
            </a:pPr>
            <a:r>
              <a:t>Key Theoretical Tenets &amp; Structural Mechanisms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91640"/>
            <a:ext cx="5852160" cy="429768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828800"/>
            <a:ext cx="548640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Formal Definition: Rigorous specification of sustainable within Environmental Studies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State Model: Transition pathways governed by development constraints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Invariants &amp; Bounds: Mathematical guarantees ensuring system integrity and reliability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Real-World Analogy: Industrial deployments and fault-tolerant architecture</a:t>
            </a:r>
          </a:p>
          <a:p>
            <a:pPr>
              <a:spcBef>
                <a:spcPts val="800"/>
              </a:spcBef>
              <a:defRPr sz="1100" b="1">
                <a:solidFill>
                  <a:srgbClr val="E11D48"/>
                </a:solidFill>
              </a:defRPr>
            </a:pPr>
            <a:r>
              <a:t>🎯 Exam Tip: Frequent 5-mark question in MTE/ETE: 'Explain the working principle and operational characteristics of sustainable with an illustrative diagram.'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766560" y="1691640"/>
            <a:ext cx="4693615" cy="4297680"/>
          </a:xfrm>
          <a:prstGeom prst="round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903720" y="1828800"/>
            <a:ext cx="438912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000" b="1">
                <a:solidFill>
                  <a:srgbClr val="F59E0B"/>
                </a:solidFill>
              </a:defRPr>
            </a:pPr>
            <a:r>
              <a:t>DIAGRAM / SYSTEM SCHEMATIC</a:t>
            </a:r>
          </a:p>
          <a:p>
            <a:pPr>
              <a:defRPr sz="950">
                <a:solidFill>
                  <a:srgbClr val="E2E8F0"/>
                </a:solidFill>
                <a:latin typeface="Courier New"/>
              </a:defRPr>
            </a:pPr>
            <a:r>
              <a:t>// Unit 1 Core Pipeline Paradigm</a:t>
            </a:r>
            <a:br/>
            <a:r>
              <a:t>[State S0: Init] ---&gt; [Transform: sustainable] ---&gt; [Validation]</a:t>
            </a:r>
            <a:br/>
            <a:r>
              <a:t>                                    │</a:t>
            </a:r>
            <a:br/>
            <a:r>
              <a:t>                                    ▼</a:t>
            </a:r>
            <a:br/>
            <a:r>
              <a:t>                     [State S1: Verified Output]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6217920"/>
            <a:ext cx="1072865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4748B"/>
                </a:solidFill>
              </a:defRPr>
            </a:pPr>
            <a:r>
              <a:t>AcadAssist • LPU Academic Presentation • CHE110 • Powered by notes.lpuverto.xyz</a:t>
            </a:r>
          </a:p>
          <a:p>
            <a:pPr algn="r">
              <a:defRPr sz="900" b="1">
                <a:solidFill>
                  <a:srgbClr val="E11D48"/>
                </a:solidFill>
              </a:defRPr>
            </a:pPr>
            <a:r>
              <a:t>Slide 3 of 11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E11D48"/>
          </a:solidFill>
          <a:ln>
            <a:solidFill>
              <a:srgbClr val="E11D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72865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E11D48"/>
                </a:solidFill>
              </a:defRPr>
            </a:pPr>
            <a:r>
              <a:t>UNIT 2 FOCUS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85800"/>
            <a:ext cx="1072865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0F172A"/>
                </a:solidFill>
              </a:defRPr>
            </a:pPr>
            <a:r>
              <a:t>Unit 2: Natural resources and ecosystem</a:t>
            </a:r>
          </a:p>
          <a:p>
            <a:pPr>
              <a:defRPr sz="1300">
                <a:solidFill>
                  <a:srgbClr val="64748B"/>
                </a:solidFill>
              </a:defRPr>
            </a:pPr>
            <a:r>
              <a:t>Key Theoretical Tenets &amp; Structural Mechanisms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91640"/>
            <a:ext cx="5852160" cy="429768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828800"/>
            <a:ext cx="548640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Formal Definition: Rigorous specification of Natural within Environmental Studies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State Model: Transition pathways governed by resources constraints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Invariants &amp; Bounds: Mathematical guarantees ensuring system integrity and reliability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Real-World Analogy: Industrial deployments and fault-tolerant architecture</a:t>
            </a:r>
          </a:p>
          <a:p>
            <a:pPr>
              <a:spcBef>
                <a:spcPts val="800"/>
              </a:spcBef>
              <a:defRPr sz="1100" b="1">
                <a:solidFill>
                  <a:srgbClr val="E11D48"/>
                </a:solidFill>
              </a:defRPr>
            </a:pPr>
            <a:r>
              <a:t>🎯 Exam Tip: Frequent 5-mark question in MTE/ETE: 'Explain the working principle and operational characteristics of Natural with an illustrative diagram.'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766560" y="1691640"/>
            <a:ext cx="4693615" cy="4297680"/>
          </a:xfrm>
          <a:prstGeom prst="round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903720" y="1828800"/>
            <a:ext cx="438912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000" b="1">
                <a:solidFill>
                  <a:srgbClr val="F59E0B"/>
                </a:solidFill>
              </a:defRPr>
            </a:pPr>
            <a:r>
              <a:t>DIAGRAM / SYSTEM SCHEMATIC</a:t>
            </a:r>
          </a:p>
          <a:p>
            <a:pPr>
              <a:defRPr sz="950">
                <a:solidFill>
                  <a:srgbClr val="E2E8F0"/>
                </a:solidFill>
                <a:latin typeface="Courier New"/>
              </a:defRPr>
            </a:pPr>
            <a:r>
              <a:t>// Unit 2 Core Pipeline Paradigm</a:t>
            </a:r>
            <a:br/>
            <a:r>
              <a:t>[State S0: Init] ---&gt; [Transform: Natural] ---&gt; [Validation]</a:t>
            </a:r>
            <a:br/>
            <a:r>
              <a:t>                                    │</a:t>
            </a:r>
            <a:br/>
            <a:r>
              <a:t>                                    ▼</a:t>
            </a:r>
            <a:br/>
            <a:r>
              <a:t>                     [State S1: Verified Output]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6217920"/>
            <a:ext cx="1072865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4748B"/>
                </a:solidFill>
              </a:defRPr>
            </a:pPr>
            <a:r>
              <a:t>AcadAssist • LPU Academic Presentation • CHE110 • Powered by notes.lpuverto.xyz</a:t>
            </a:r>
          </a:p>
          <a:p>
            <a:pPr algn="r">
              <a:defRPr sz="900" b="1">
                <a:solidFill>
                  <a:srgbClr val="E11D48"/>
                </a:solidFill>
              </a:defRPr>
            </a:pPr>
            <a:r>
              <a:t>Slide 4 of 11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E11D48"/>
          </a:solidFill>
          <a:ln>
            <a:solidFill>
              <a:srgbClr val="E11D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72865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E11D48"/>
                </a:solidFill>
              </a:defRPr>
            </a:pPr>
            <a:r>
              <a:t>UNIT 3 FOCUS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85800"/>
            <a:ext cx="1072865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0F172A"/>
                </a:solidFill>
              </a:defRPr>
            </a:pPr>
            <a:r>
              <a:t>Unit 3: Biodiversity and conservation</a:t>
            </a:r>
          </a:p>
          <a:p>
            <a:pPr>
              <a:defRPr sz="1300">
                <a:solidFill>
                  <a:srgbClr val="64748B"/>
                </a:solidFill>
              </a:defRPr>
            </a:pPr>
            <a:r>
              <a:t>Key Theoretical Tenets &amp; Structural Mechanisms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91640"/>
            <a:ext cx="5852160" cy="429768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828800"/>
            <a:ext cx="548640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Formal Definition: Rigorous specification of Biodiversity within Environmental Studies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State Model: Transition pathways governed by conservation constraints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Invariants &amp; Bounds: Mathematical guarantees ensuring system integrity and reliability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Real-World Analogy: Industrial deployments and fault-tolerant architecture</a:t>
            </a:r>
          </a:p>
          <a:p>
            <a:pPr>
              <a:spcBef>
                <a:spcPts val="800"/>
              </a:spcBef>
              <a:defRPr sz="1100" b="1">
                <a:solidFill>
                  <a:srgbClr val="E11D48"/>
                </a:solidFill>
              </a:defRPr>
            </a:pPr>
            <a:r>
              <a:t>🎯 Exam Tip: Frequent 5-mark question in MTE/ETE: 'Explain the working principle and operational characteristics of Biodiversity with an illustrative diagram.'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766560" y="1691640"/>
            <a:ext cx="4693615" cy="4297680"/>
          </a:xfrm>
          <a:prstGeom prst="round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903720" y="1828800"/>
            <a:ext cx="438912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000" b="1">
                <a:solidFill>
                  <a:srgbClr val="F59E0B"/>
                </a:solidFill>
              </a:defRPr>
            </a:pPr>
            <a:r>
              <a:t>DIAGRAM / SYSTEM SCHEMATIC</a:t>
            </a:r>
          </a:p>
          <a:p>
            <a:pPr>
              <a:defRPr sz="950">
                <a:solidFill>
                  <a:srgbClr val="E2E8F0"/>
                </a:solidFill>
                <a:latin typeface="Courier New"/>
              </a:defRPr>
            </a:pPr>
            <a:r>
              <a:t>// Unit 3 Core Pipeline Paradigm</a:t>
            </a:r>
            <a:br/>
            <a:r>
              <a:t>[State S0: Init] ---&gt; [Transform: Biodiversity] ---&gt; [Validation]</a:t>
            </a:r>
            <a:br/>
            <a:r>
              <a:t>                                    │</a:t>
            </a:r>
            <a:br/>
            <a:r>
              <a:t>                                    ▼</a:t>
            </a:r>
            <a:br/>
            <a:r>
              <a:t>                     [State S1: Verified Output]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6217920"/>
            <a:ext cx="1072865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4748B"/>
                </a:solidFill>
              </a:defRPr>
            </a:pPr>
            <a:r>
              <a:t>AcadAssist • LPU Academic Presentation • CHE110 • Powered by notes.lpuverto.xyz</a:t>
            </a:r>
          </a:p>
          <a:p>
            <a:pPr algn="r">
              <a:defRPr sz="900" b="1">
                <a:solidFill>
                  <a:srgbClr val="E11D48"/>
                </a:solidFill>
              </a:defRPr>
            </a:pPr>
            <a:r>
              <a:t>Slide 5 of 11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E11D48"/>
          </a:solidFill>
          <a:ln>
            <a:solidFill>
              <a:srgbClr val="E11D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72865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E11D48"/>
                </a:solidFill>
              </a:defRPr>
            </a:pPr>
            <a:r>
              <a:t>UNIT 4 FOCUS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85800"/>
            <a:ext cx="1072865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0F172A"/>
                </a:solidFill>
              </a:defRPr>
            </a:pPr>
            <a:r>
              <a:t>Unit 4: Environmental pollution</a:t>
            </a:r>
          </a:p>
          <a:p>
            <a:pPr>
              <a:defRPr sz="1300">
                <a:solidFill>
                  <a:srgbClr val="64748B"/>
                </a:solidFill>
              </a:defRPr>
            </a:pPr>
            <a:r>
              <a:t>Key Theoretical Tenets &amp; Structural Mechanisms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91640"/>
            <a:ext cx="5852160" cy="429768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828800"/>
            <a:ext cx="548640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Formal Definition: Rigorous specification of Environmental within Environmental Studies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State Model: Transition pathways governed by pollution constraints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Invariants &amp; Bounds: Mathematical guarantees ensuring system integrity and reliability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Real-World Analogy: Industrial deployments and fault-tolerant architecture</a:t>
            </a:r>
          </a:p>
          <a:p>
            <a:pPr>
              <a:spcBef>
                <a:spcPts val="800"/>
              </a:spcBef>
              <a:defRPr sz="1100" b="1">
                <a:solidFill>
                  <a:srgbClr val="E11D48"/>
                </a:solidFill>
              </a:defRPr>
            </a:pPr>
            <a:r>
              <a:t>🎯 Exam Tip: Frequent 5-mark question in MTE/ETE: 'Explain the working principle and operational characteristics of Environmental with an illustrative diagram.'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766560" y="1691640"/>
            <a:ext cx="4693615" cy="4297680"/>
          </a:xfrm>
          <a:prstGeom prst="round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903720" y="1828800"/>
            <a:ext cx="438912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000" b="1">
                <a:solidFill>
                  <a:srgbClr val="F59E0B"/>
                </a:solidFill>
              </a:defRPr>
            </a:pPr>
            <a:r>
              <a:t>DIAGRAM / SYSTEM SCHEMATIC</a:t>
            </a:r>
          </a:p>
          <a:p>
            <a:pPr>
              <a:defRPr sz="950">
                <a:solidFill>
                  <a:srgbClr val="E2E8F0"/>
                </a:solidFill>
                <a:latin typeface="Courier New"/>
              </a:defRPr>
            </a:pPr>
            <a:r>
              <a:t>// Unit 4 Core Pipeline Paradigm</a:t>
            </a:r>
            <a:br/>
            <a:r>
              <a:t>[State S0: Init] ---&gt; [Transform: Environmental] ---&gt; [Validation]</a:t>
            </a:r>
            <a:br/>
            <a:r>
              <a:t>                                    │</a:t>
            </a:r>
            <a:br/>
            <a:r>
              <a:t>                                    ▼</a:t>
            </a:r>
            <a:br/>
            <a:r>
              <a:t>                     [State S1: Verified Output]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6217920"/>
            <a:ext cx="1072865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4748B"/>
                </a:solidFill>
              </a:defRPr>
            </a:pPr>
            <a:r>
              <a:t>AcadAssist • LPU Academic Presentation • CHE110 • Powered by notes.lpuverto.xyz</a:t>
            </a:r>
          </a:p>
          <a:p>
            <a:pPr algn="r">
              <a:defRPr sz="900" b="1">
                <a:solidFill>
                  <a:srgbClr val="E11D48"/>
                </a:solidFill>
              </a:defRPr>
            </a:pPr>
            <a:r>
              <a:t>Slide 6 of 11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E11D48"/>
          </a:solidFill>
          <a:ln>
            <a:solidFill>
              <a:srgbClr val="E11D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72865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E11D48"/>
                </a:solidFill>
              </a:defRPr>
            </a:pPr>
            <a:r>
              <a:t>IMPLEMENTATION LOGIC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85800"/>
            <a:ext cx="1072865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0F172A"/>
                </a:solidFill>
              </a:defRPr>
            </a:pPr>
            <a:r>
              <a:t>Algorithmic Workflows &amp; Pseudocode Implementation</a:t>
            </a:r>
          </a:p>
          <a:p>
            <a:pPr>
              <a:defRPr sz="1300">
                <a:solidFill>
                  <a:srgbClr val="64748B"/>
                </a:solidFill>
              </a:defRPr>
            </a:pPr>
            <a:r>
              <a:t>Deterministic execution patterns in CHE110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91640"/>
            <a:ext cx="6217920" cy="4297680"/>
          </a:xfrm>
          <a:prstGeom prst="roundRect">
            <a:avLst/>
          </a:prstGeom>
          <a:solidFill>
            <a:srgbClr val="1E293B"/>
          </a:solidFill>
          <a:ln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68680" y="1828800"/>
            <a:ext cx="594360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000" b="1">
                <a:solidFill>
                  <a:srgbClr val="F59E0B"/>
                </a:solidFill>
              </a:defRPr>
            </a:pPr>
            <a:r>
              <a:t>TERMINAL // PSEUDOCODE</a:t>
            </a:r>
          </a:p>
          <a:p>
            <a:pPr>
              <a:defRPr sz="1000">
                <a:solidFill>
                  <a:srgbClr val="38BDF8"/>
                </a:solidFill>
                <a:latin typeface="Courier New"/>
              </a:defRPr>
            </a:pPr>
            <a:r>
              <a:t>algorithm Execute_che110_routine(dataset, threshold):</a:t>
            </a:r>
            <a:br/>
            <a:r>
              <a:t>    Input: dataset D of n elements, numeric limit T</a:t>
            </a:r>
            <a:br/>
            <a:r>
              <a:t>    Output: optimized transformation R</a:t>
            </a:r>
            <a:br/>
            <a:r>
              <a:t>    1. if length(D) == 0 or threshold &lt;= 0 then return NULL</a:t>
            </a:r>
            <a:br/>
            <a:r>
              <a:t>    2. initialize accumulator R &lt;- empty_list()</a:t>
            </a:r>
            <a:br/>
            <a:r>
              <a:t>    3. for each record r in D do:</a:t>
            </a:r>
            <a:br/>
            <a:r>
              <a:t>    4.     transformed &lt;- compute_state_metric(r)</a:t>
            </a:r>
            <a:br/>
            <a:r>
              <a:t>    5.     if transformed.score &gt;= T then</a:t>
            </a:r>
            <a:br/>
            <a:r>
              <a:t>    6.         R.append(transformed)</a:t>
            </a:r>
            <a:br/>
            <a:r>
              <a:t>    7. return sort_by_relevance(R)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132320" y="1691640"/>
            <a:ext cx="4327855" cy="429768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315200" y="1828800"/>
            <a:ext cx="393192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100" b="1">
                <a:solidFill>
                  <a:srgbClr val="E11D48"/>
                </a:solidFill>
              </a:defRPr>
            </a:pPr>
            <a:r>
              <a:t>EXECUTION &amp; EVALUATION PRINCIPLES</a:t>
            </a:r>
          </a:p>
          <a:p>
            <a:pPr>
              <a:spcAft>
                <a:spcPts val="800"/>
              </a:spcAft>
              <a:defRPr sz="1200">
                <a:solidFill>
                  <a:srgbClr val="1E293B"/>
                </a:solidFill>
              </a:defRPr>
            </a:pPr>
            <a:r>
              <a:t>•  Precondition Verification: Bounds and null pointer validation before invocation</a:t>
            </a:r>
          </a:p>
          <a:p>
            <a:pPr>
              <a:spcAft>
                <a:spcPts val="800"/>
              </a:spcAft>
              <a:defRPr sz="1200">
                <a:solidFill>
                  <a:srgbClr val="1E293B"/>
                </a:solidFill>
              </a:defRPr>
            </a:pPr>
            <a:r>
              <a:t>•  Core Processing Loop: Iterative state progression maintaining invariant stability</a:t>
            </a:r>
          </a:p>
          <a:p>
            <a:pPr>
              <a:spcAft>
                <a:spcPts val="800"/>
              </a:spcAft>
              <a:defRPr sz="1200">
                <a:solidFill>
                  <a:srgbClr val="1E293B"/>
                </a:solidFill>
              </a:defRPr>
            </a:pPr>
            <a:r>
              <a:t>•  Exception Trapping: Graceful fallback paths preventing unhandled runtime faults</a:t>
            </a:r>
          </a:p>
          <a:p>
            <a:pPr>
              <a:spcAft>
                <a:spcPts val="800"/>
              </a:spcAft>
              <a:defRPr sz="1200">
                <a:solidFill>
                  <a:srgbClr val="1E293B"/>
                </a:solidFill>
              </a:defRPr>
            </a:pPr>
            <a:r>
              <a:t>•  Resource Teardown: Deterministic deallocation mitigating memory leaks</a:t>
            </a:r>
          </a:p>
          <a:p>
            <a:pPr>
              <a:spcBef>
                <a:spcPts val="800"/>
              </a:spcBef>
              <a:defRPr sz="1100" b="1">
                <a:solidFill>
                  <a:srgbClr val="E11D48"/>
                </a:solidFill>
              </a:defRPr>
            </a:pPr>
            <a:r>
              <a:t>🎯 Exam Tip: Always write pseudocode with clear indentation, explicit input/output specifications, and step numbering in Section C answers.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6217920"/>
            <a:ext cx="1072865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4748B"/>
                </a:solidFill>
              </a:defRPr>
            </a:pPr>
            <a:r>
              <a:t>AcadAssist • LPU Academic Presentation • CHE110 • Powered by notes.lpuverto.xyz</a:t>
            </a:r>
          </a:p>
          <a:p>
            <a:pPr algn="r">
              <a:defRPr sz="900" b="1">
                <a:solidFill>
                  <a:srgbClr val="E11D48"/>
                </a:solidFill>
              </a:defRPr>
            </a:pPr>
            <a:r>
              <a:t>Slide 7 of 11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E11D48"/>
          </a:solidFill>
          <a:ln>
            <a:solidFill>
              <a:srgbClr val="E11D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72865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E11D48"/>
                </a:solidFill>
              </a:defRPr>
            </a:pPr>
            <a:r>
              <a:t>PERFORMANCE MATRIX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85800"/>
            <a:ext cx="1072865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0F172A"/>
                </a:solidFill>
              </a:defRPr>
            </a:pPr>
            <a:r>
              <a:t>Complexity Analysis &amp; Architectural Trade-offs</a:t>
            </a:r>
          </a:p>
          <a:p>
            <a:pPr>
              <a:defRPr sz="1300">
                <a:solidFill>
                  <a:srgbClr val="64748B"/>
                </a:solidFill>
              </a:defRPr>
            </a:pPr>
            <a:r>
              <a:t>Asymptotic bounds and memory footprint comparison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91640"/>
            <a:ext cx="5852160" cy="429768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828800"/>
            <a:ext cx="548640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Time Complexity: Best Case O(1) • Average Case O(n log n) • Worst Case O(n²)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Space Complexity: O(1) auxiliary space achieved via in-place state manipulation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Scalability Vector: Horizontal partitioning minimizes cache thrashing under concurrent read loads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Trade-off Principle: Prioritizing read throughput introduces minimal write amplification</a:t>
            </a:r>
          </a:p>
          <a:p>
            <a:pPr>
              <a:spcBef>
                <a:spcPts val="800"/>
              </a:spcBef>
              <a:defRPr sz="1100" b="1">
                <a:solidFill>
                  <a:srgbClr val="E11D48"/>
                </a:solidFill>
              </a:defRPr>
            </a:pPr>
            <a:r>
              <a:t>🎯 Exam Tip: LPU evaluators award 2 extra marks if you contrast worst-case Big-O with tight Theta bounds and cite hardware cache locality.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766560" y="1691640"/>
            <a:ext cx="4693615" cy="4297680"/>
          </a:xfrm>
          <a:prstGeom prst="round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903720" y="1828800"/>
            <a:ext cx="438912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000" b="1">
                <a:solidFill>
                  <a:srgbClr val="F59E0B"/>
                </a:solidFill>
              </a:defRPr>
            </a:pPr>
            <a:r>
              <a:t>DIAGRAM / SYSTEM SCHEMATIC</a:t>
            </a:r>
          </a:p>
          <a:p>
            <a:pPr>
              <a:defRPr sz="950">
                <a:solidFill>
                  <a:srgbClr val="E2E8F0"/>
                </a:solidFill>
                <a:latin typeface="Courier New"/>
              </a:defRPr>
            </a:pPr>
            <a:r>
              <a:t>+-------------------------------------------------------------------+</a:t>
            </a:r>
            <a:br/>
            <a:r>
              <a:t>| Metric / Operation       | Best Case    | Average Case | Worst Case   |</a:t>
            </a:r>
            <a:br/>
            <a:r>
              <a:t>+-------------------------------------------------------------------+</a:t>
            </a:r>
            <a:br/>
            <a:r>
              <a:t>| Primary Lookups          | O(1)         | O(log n)     | O(n)         |</a:t>
            </a:r>
            <a:br/>
            <a:r>
              <a:t>| Batch State Mutations    | O(n)         | O(n log n)   | O(n²)        |</a:t>
            </a:r>
            <a:br/>
            <a:r>
              <a:t>| Auxiliary Memory Bounds  | O(1)         | O(log n)     | O(n)         |</a:t>
            </a:r>
            <a:br/>
            <a:r>
              <a:t>+-------------------------------------------------------------------+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6217920"/>
            <a:ext cx="1072865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4748B"/>
                </a:solidFill>
              </a:defRPr>
            </a:pPr>
            <a:r>
              <a:t>AcadAssist • LPU Academic Presentation • CHE110 • Powered by notes.lpuverto.xyz</a:t>
            </a:r>
          </a:p>
          <a:p>
            <a:pPr algn="r">
              <a:defRPr sz="900" b="1">
                <a:solidFill>
                  <a:srgbClr val="E11D48"/>
                </a:solidFill>
              </a:defRPr>
            </a:pPr>
            <a:r>
              <a:t>Slide 8 of 11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E11D48"/>
          </a:solidFill>
          <a:ln>
            <a:solidFill>
              <a:srgbClr val="E11D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72865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E11D48"/>
                </a:solidFill>
              </a:defRPr>
            </a:pPr>
            <a:r>
              <a:t>EXAM RUBRIC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85800"/>
            <a:ext cx="1072865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0F172A"/>
                </a:solidFill>
              </a:defRPr>
            </a:pPr>
            <a:r>
              <a:t>LPU Examination Blueprint &amp; Scoring Rubrics</a:t>
            </a:r>
          </a:p>
          <a:p>
            <a:pPr>
              <a:defRPr sz="1300">
                <a:solidFill>
                  <a:srgbClr val="64748B"/>
                </a:solidFill>
              </a:defRPr>
            </a:pPr>
            <a:r>
              <a:t>End-Term (ETE) &amp; Mid-Term (MTE) Question Distribution for CHE110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91640"/>
            <a:ext cx="5852160" cy="429768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828800"/>
            <a:ext cx="548640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Part A (20 Marks): 10-20 Objective MCQs &amp; Short Conceptual Definitions (Negative marking -0.25 on competitive sets)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Part B (30 Marks): 6 Analytical Questions (5 Marks each) requiring precise diagrams, step derivations, and comparisons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Part C (20 Marks): 2 Comprehensive Long Questions (10 Marks each) demanding end-to-end design and code implementations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Target Threshold: Aim for 65+ / 70 to secure Grade O (10.0 CGPA) or A+ (9.0+ CGPA)</a:t>
            </a:r>
          </a:p>
          <a:p>
            <a:pPr>
              <a:spcBef>
                <a:spcPts val="800"/>
              </a:spcBef>
              <a:defRPr sz="1100" b="1">
                <a:solidFill>
                  <a:srgbClr val="E11D48"/>
                </a:solidFill>
              </a:defRPr>
            </a:pPr>
            <a:r>
              <a:t>🎯 Exam Tip: Never leave questions unattempted. Even partial state definitions or block diagrams yield 2-3 step marks in Part B &amp; C.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766560" y="1691640"/>
            <a:ext cx="4693615" cy="4297680"/>
          </a:xfrm>
          <a:prstGeom prst="round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903720" y="1828800"/>
            <a:ext cx="438912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000" b="1">
                <a:solidFill>
                  <a:srgbClr val="F59E0B"/>
                </a:solidFill>
              </a:defRPr>
            </a:pPr>
            <a:r>
              <a:t>DIAGRAM / SYSTEM SCHEMATIC</a:t>
            </a:r>
          </a:p>
          <a:p>
            <a:pPr>
              <a:defRPr sz="950">
                <a:solidFill>
                  <a:srgbClr val="E2E8F0"/>
                </a:solidFill>
                <a:latin typeface="Courier New"/>
              </a:defRPr>
            </a:pPr>
            <a:r>
              <a:t>Exam Time Allocation (3 Hours / 180 Minutes):</a:t>
            </a:r>
            <a:br/>
            <a:r>
              <a:t>  • 00 - 30 min : Part A (MCQ speed &amp; accuracy, mark sure answers first)</a:t>
            </a:r>
            <a:br/>
            <a:r>
              <a:t>  • 30 - 110 min: Part B (13 mins per 5-mark answer with labeled diagram)</a:t>
            </a:r>
            <a:br/>
            <a:r>
              <a:t>  • 110 - 165 min: Part C (25 mins per 10-mark answer with code + architecture)</a:t>
            </a:r>
            <a:br/>
            <a:r>
              <a:t>  • 165 - 180 min: Final Review (underline keywords, verify indices)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6217920"/>
            <a:ext cx="1072865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4748B"/>
                </a:solidFill>
              </a:defRPr>
            </a:pPr>
            <a:r>
              <a:t>AcadAssist • LPU Academic Presentation • CHE110 • Powered by notes.lpuverto.xyz</a:t>
            </a:r>
          </a:p>
          <a:p>
            <a:pPr algn="r">
              <a:defRPr sz="900" b="1">
                <a:solidFill>
                  <a:srgbClr val="E11D48"/>
                </a:solidFill>
              </a:defRPr>
            </a:pPr>
            <a:r>
              <a:t>Slide 9 of 11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E11D48"/>
          </a:solidFill>
          <a:ln>
            <a:solidFill>
              <a:srgbClr val="E11D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72865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E11D48"/>
                </a:solidFill>
              </a:defRPr>
            </a:pPr>
            <a:r>
              <a:t>LPU PYQ BANK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85800"/>
            <a:ext cx="1072865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0F172A"/>
                </a:solidFill>
              </a:defRPr>
            </a:pPr>
            <a:r>
              <a:t>Previous Year Questions (PYQ) Spotlight</a:t>
            </a:r>
          </a:p>
          <a:p>
            <a:pPr>
              <a:defRPr sz="1300">
                <a:solidFill>
                  <a:srgbClr val="64748B"/>
                </a:solidFill>
              </a:defRPr>
            </a:pPr>
            <a:r>
              <a:t>Recurring Themes from LPU End-Term Examinations (2021–2024)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91640"/>
            <a:ext cx="5852160" cy="429768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828800"/>
            <a:ext cx="548640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PYQ Part A (2M): What is the primary international treaty aimed at protecting the ozone layer by phasing ou...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PYQ Part A (2M): Which of the following is an example of an In-situ biodiversity conservation method?...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PYQ Part B (10M): Explain Eutrophication in aquatic ecosystems. Discuss its causes, environmental consequenc...</a:t>
            </a:r>
          </a:p>
          <a:p>
            <a:pPr>
              <a:spcBef>
                <a:spcPts val="800"/>
              </a:spcBef>
              <a:defRPr sz="1100" b="1">
                <a:solidFill>
                  <a:srgbClr val="E11D48"/>
                </a:solidFill>
              </a:defRPr>
            </a:pPr>
            <a:r>
              <a:t>🎯 Exam Tip: High frequency topics repeat every 2 to 3 semesters. Check the AcadAssist PYQ Explorer tab for complete papers and model solutions.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766560" y="1691640"/>
            <a:ext cx="4693615" cy="4297680"/>
          </a:xfrm>
          <a:prstGeom prst="round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903720" y="1828800"/>
            <a:ext cx="438912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000" b="1">
                <a:solidFill>
                  <a:srgbClr val="F59E0B"/>
                </a:solidFill>
              </a:defRPr>
            </a:pPr>
            <a:r>
              <a:t>DIAGRAM / SYSTEM SCHEMATIC</a:t>
            </a:r>
          </a:p>
          <a:p>
            <a:pPr>
              <a:defRPr sz="950">
                <a:solidFill>
                  <a:srgbClr val="E2E8F0"/>
                </a:solidFill>
                <a:latin typeface="Courier New"/>
              </a:defRPr>
            </a:pPr>
            <a:r>
              <a:t>+-------------------------------------------------------------------+</a:t>
            </a:r>
            <a:br/>
            <a:r>
              <a:t>| Golden Rule for 10-Mark Questions in LPU:                         |</a:t>
            </a:r>
            <a:br/>
            <a:r>
              <a:t>| 1. Formal Definition (1 Mark)                                     |</a:t>
            </a:r>
            <a:br/>
            <a:r>
              <a:t>| 2. Labeled Architectural / Block Diagram (3 Marks)                |</a:t>
            </a:r>
            <a:br/>
            <a:r>
              <a:t>| 3. Step-by-Step Working Principle / Mathematical Formula (3 Marks)|</a:t>
            </a:r>
            <a:br/>
            <a:r>
              <a:t>| 4. Pseudocode / Implementation Snippet (2 Marks)                  |</a:t>
            </a:r>
            <a:br/>
            <a:r>
              <a:t>| 5. Complexity &amp; Edge Case Analysis (1 Mark)                       |</a:t>
            </a:r>
            <a:br/>
            <a:r>
              <a:t>+-------------------------------------------------------------------+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6217920"/>
            <a:ext cx="1072865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4748B"/>
                </a:solidFill>
              </a:defRPr>
            </a:pPr>
            <a:r>
              <a:t>AcadAssist • LPU Academic Presentation • CHE110 • Powered by notes.lpuverto.xyz</a:t>
            </a:r>
          </a:p>
          <a:p>
            <a:pPr algn="r">
              <a:defRPr sz="900" b="1">
                <a:solidFill>
                  <a:srgbClr val="E11D48"/>
                </a:solidFill>
              </a:defRPr>
            </a:pPr>
            <a:r>
              <a:t>Slide 10 of 11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E11D48"/>
          </a:solidFill>
          <a:ln>
            <a:solidFill>
              <a:srgbClr val="E11D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72865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E11D48"/>
                </a:solidFill>
              </a:defRPr>
            </a:pPr>
            <a:r>
              <a:t>REVISION ACTION PLAN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85800"/>
            <a:ext cx="1072865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0F172A"/>
                </a:solidFill>
              </a:defRPr>
            </a:pPr>
            <a:r>
              <a:t>Comprehensive Summary &amp; Preparation Checklist</a:t>
            </a:r>
          </a:p>
          <a:p>
            <a:pPr>
              <a:defRPr sz="1300">
                <a:solidFill>
                  <a:srgbClr val="64748B"/>
                </a:solidFill>
              </a:defRPr>
            </a:pPr>
            <a:r>
              <a:t>Your roadmap to Grade O / 10 CGPA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91640"/>
            <a:ext cx="5852160" cy="429768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828800"/>
            <a:ext cx="548640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Review complete unit-wise study notes on AcadAssist &amp; notes.lpuverto.xyz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Practice 50+ topic-wise MCQs to build speed and eliminate negative marking errors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Solve at least 2 full-length 3-hour mock papers under timed exam conditions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Review cheat sheet formulas and algorithmic invariants the night before the examination</a:t>
            </a:r>
          </a:p>
          <a:p>
            <a:pPr>
              <a:spcBef>
                <a:spcPts val="800"/>
              </a:spcBef>
              <a:defRPr sz="1100" b="1">
                <a:solidFill>
                  <a:srgbClr val="E11D48"/>
                </a:solidFill>
              </a:defRPr>
            </a:pPr>
            <a:r>
              <a:t>🎯 Exam Tip: Confidence comes from structured practice. Best of luck for your LPU examinations, Vertos!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766560" y="1691640"/>
            <a:ext cx="4693615" cy="4297680"/>
          </a:xfrm>
          <a:prstGeom prst="round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903720" y="1828800"/>
            <a:ext cx="438912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000" b="1">
                <a:solidFill>
                  <a:srgbClr val="F59E0B"/>
                </a:solidFill>
              </a:defRPr>
            </a:pPr>
            <a:r>
              <a:t>DIAGRAM / SYSTEM SCHEMATIC</a:t>
            </a:r>
          </a:p>
          <a:p>
            <a:pPr>
              <a:defRPr sz="950">
                <a:solidFill>
                  <a:srgbClr val="E2E8F0"/>
                </a:solidFill>
                <a:latin typeface="Courier New"/>
              </a:defRPr>
            </a:pPr>
            <a:r>
              <a:t>AcadAssist Learning Ecosystem:</a:t>
            </a:r>
            <a:br/>
            <a:r>
              <a:t>  • Notes &amp; Study Studio  : Instant notes, cheat sheets, &amp; flashcards</a:t>
            </a:r>
            <a:br/>
            <a:r>
              <a:t>  • PYQ Question Bank     : Authentic past papers with model answers</a:t>
            </a:r>
            <a:br/>
            <a:r>
              <a:t>  • Timed Mock Test Engine: Real exam timer with instant score analysis</a:t>
            </a:r>
            <a:br/>
            <a:r>
              <a:t>  • Slide Deck Presenter  : Fullscreen projector mode for classroom revision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6217920"/>
            <a:ext cx="1072865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4748B"/>
                </a:solidFill>
              </a:defRPr>
            </a:pPr>
            <a:r>
              <a:t>AcadAssist • LPU Academic Presentation • CHE110 • Powered by notes.lpuverto.xyz</a:t>
            </a:r>
          </a:p>
          <a:p>
            <a:pPr algn="r">
              <a:defRPr sz="900" b="1">
                <a:solidFill>
                  <a:srgbClr val="E11D48"/>
                </a:solidFill>
              </a:defRPr>
            </a:pPr>
            <a:r>
              <a:t>Slide 11 of 11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